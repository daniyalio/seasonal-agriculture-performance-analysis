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92" d="100"/>
          <a:sy n="92" d="100"/>
        </p:scale>
        <p:origin x="-240" y="-62"/>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465513" y="3714972"/>
            <a:ext cx="3400089" cy="861497"/>
          </a:xfrm>
        </p:spPr>
        <p:txBody>
          <a:bodyPr vert="horz" lIns="91440" tIns="45720" rIns="91440" bIns="45720" rtlCol="0" anchor="t">
            <a:normAutofit fontScale="62500" lnSpcReduction="20000"/>
          </a:bodyPr>
          <a:lstStyle/>
          <a:p>
            <a:pPr algn="r"/>
            <a:r>
              <a:rPr lang="en-US" sz="2500" dirty="0" err="1" smtClean="0"/>
              <a:t>Md</a:t>
            </a:r>
            <a:r>
              <a:rPr lang="en-US" sz="2500" dirty="0" smtClean="0"/>
              <a:t> </a:t>
            </a:r>
            <a:r>
              <a:rPr lang="en-US" sz="2500" dirty="0" err="1" smtClean="0"/>
              <a:t>Daniyal</a:t>
            </a:r>
            <a:r>
              <a:rPr lang="en-US" sz="2500" dirty="0" smtClean="0"/>
              <a:t> Islam</a:t>
            </a:r>
            <a:r>
              <a:rPr sz="2500" b="1" dirty="0"/>
              <a:t>
</a:t>
            </a:r>
            <a:r>
              <a:rPr lang="en-US" sz="2500" dirty="0" smtClean="0"/>
              <a:t>St. Xavier’s College of Management and Technology</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5957" y="2794001"/>
            <a:ext cx="4998720" cy="743448"/>
          </a:xfrm>
        </p:spPr>
        <p:txBody>
          <a:bodyPr>
            <a:normAutofit fontScale="90000"/>
          </a:bodyPr>
          <a:lstStyle/>
          <a:p>
            <a:r>
              <a:rPr sz="2800" b="1" dirty="0"/>
              <a:t>Seasonal Agriculture Performance Analysis</a:t>
            </a: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957406" y="4576469"/>
            <a:ext cx="3176362" cy="923330"/>
          </a:xfrm>
          <a:prstGeom prst="rect">
            <a:avLst/>
          </a:prstGeom>
          <a:noFill/>
        </p:spPr>
        <p:txBody>
          <a:bodyPr wrap="square" rtlCol="0">
            <a:spAutoFit/>
          </a:bodyPr>
          <a:lstStyle/>
          <a:p>
            <a:r>
              <a:rPr sz="1800" b="0" dirty="0"/>
              <a:t>AICTE STU ID: </a:t>
            </a:r>
            <a:r>
              <a:rPr lang="en-US" dirty="0"/>
              <a:t>STU6a2677514dd0c1780905809</a:t>
            </a:r>
            <a:endParaRPr sz="1800" b="0" dirty="0"/>
          </a:p>
        </p:txBody>
      </p:sp>
    </p:spTree>
    <p:extLst>
      <p:ext uri="{BB962C8B-B14F-4D97-AF65-F5344CB8AC3E}">
        <p14:creationId xmlns:p14="http://schemas.microsoft.com/office/powerpoint/2010/main" val="160401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Autofit/>
          </a:bodyPr>
          <a:lstStyle/>
          <a:p>
            <a:pPr>
              <a:lnSpc>
                <a:spcPct val="150000"/>
              </a:lnSpc>
            </a:pPr>
            <a:r>
              <a:rPr lang="en-US" sz="16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sz="1600" b="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a:bodyPr>
          <a:lstStyle/>
          <a:p>
            <a:r>
              <a:rPr sz="2600" b="1"/>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5429332"/>
          </a:xfrm>
        </p:spPr>
        <p:txBody>
          <a:bodyPr>
            <a:noAutofit/>
          </a:bodyPr>
          <a:lstStyle/>
          <a:p>
            <a:r>
              <a:rPr lang="en-US" sz="1800" dirty="0"/>
              <a:t>Project </a:t>
            </a:r>
            <a:r>
              <a:rPr lang="en-US" sz="1800" dirty="0" smtClean="0"/>
              <a:t>Description</a:t>
            </a:r>
            <a:br>
              <a:rPr lang="en-US" sz="1800" dirty="0" smtClean="0"/>
            </a:br>
            <a:r>
              <a:rPr lang="en-US" sz="1400" dirty="0"/>
              <a:t/>
            </a:r>
            <a:br>
              <a:rPr lang="en-US" sz="1400" dirty="0"/>
            </a:br>
            <a:r>
              <a:rPr lang="en-US" sz="1400" dirty="0"/>
              <a:t>This project analyzes seasonal agriculture performance using data from different farms, crops and regions. The dataset includes information about seasons, rainfall, temperature, soil conditions, irrigation methods, crop yield, production, cost, revenue, profit, water usage and disease or pest risk.</a:t>
            </a:r>
            <a:br>
              <a:rPr lang="en-US" sz="1400" dirty="0"/>
            </a:br>
            <a:r>
              <a:rPr lang="en-US" sz="1400" dirty="0"/>
              <a:t>The main purpose of this project is to compare agricultural performance across the </a:t>
            </a:r>
            <a:r>
              <a:rPr lang="en-US" sz="1400" dirty="0" err="1"/>
              <a:t>Kharif</a:t>
            </a:r>
            <a:r>
              <a:rPr lang="en-US" sz="1400" dirty="0"/>
              <a:t>, Rabi and Zaid seasons. The analysis studies differences in yield, profit, rainfall, water usage, crop performance, irrigation methods and disease risk.</a:t>
            </a:r>
            <a:br>
              <a:rPr lang="en-US" sz="1400" dirty="0"/>
            </a:br>
            <a:r>
              <a:rPr lang="en-US" sz="1400" dirty="0"/>
              <a:t>Python, Pandas, </a:t>
            </a:r>
            <a:r>
              <a:rPr lang="en-US" sz="1400" dirty="0" err="1"/>
              <a:t>Matplotlib</a:t>
            </a:r>
            <a:r>
              <a:rPr lang="en-US" sz="1400" dirty="0"/>
              <a:t> and </a:t>
            </a:r>
            <a:r>
              <a:rPr lang="en-US" sz="1400" dirty="0" err="1"/>
              <a:t>Seaborn</a:t>
            </a:r>
            <a:r>
              <a:rPr lang="en-US" sz="1400" dirty="0"/>
              <a:t> are used to load, clean and analyze the dataset. Different tables and charts are created to understand seasonal patterns and relationships between agricultural factors.</a:t>
            </a:r>
            <a:br>
              <a:rPr lang="en-US" sz="1400" dirty="0"/>
            </a:br>
            <a:r>
              <a:rPr lang="en-US" sz="1400" dirty="0"/>
              <a:t>The project also includes missing-value checking, duplicate checking, descriptive analysis, outlier investigation, univariate analysis, bivariate analysis, multivariate analysis, correlation analysis and comparisons between crops, states, seasons and irrigation methods.</a:t>
            </a:r>
            <a:br>
              <a:rPr lang="en-US" sz="1400" dirty="0"/>
            </a:br>
            <a:r>
              <a:rPr lang="en-US" sz="1400" dirty="0"/>
              <a:t>The final results provide useful observations and recommendations for better seasonal crop planning, irrigation decisions and agricultural resource management.</a:t>
            </a:r>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sz="2500" b="1"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457200" y="1729047"/>
            <a:ext cx="8961120" cy="3291840"/>
          </a:xfrm>
          <a:prstGeom prst="rect">
            <a:avLst/>
          </a:prstGeom>
          <a:noFill/>
        </p:spPr>
        <p:txBody>
          <a:bodyPr wrap="square">
            <a:spAutoFit/>
          </a:bodyPr>
          <a:lstStyle/>
          <a:p>
            <a:pPr>
              <a:spcAft>
                <a:spcPts val="800"/>
              </a:spcAft>
              <a:defRPr sz="2400" b="0"/>
            </a:pPr>
            <a:r>
              <a:rPr dirty="0"/>
              <a:t>• Farmers planning crops for different seasons</a:t>
            </a:r>
          </a:p>
          <a:p>
            <a:pPr>
              <a:spcAft>
                <a:spcPts val="800"/>
              </a:spcAft>
              <a:defRPr sz="2400" b="0"/>
            </a:pPr>
            <a:r>
              <a:rPr dirty="0"/>
              <a:t>• Agricultural officers</a:t>
            </a:r>
          </a:p>
          <a:p>
            <a:pPr>
              <a:spcAft>
                <a:spcPts val="800"/>
              </a:spcAft>
              <a:defRPr sz="2400" b="0"/>
            </a:pPr>
            <a:r>
              <a:rPr dirty="0"/>
              <a:t>• People studying farm performance</a:t>
            </a:r>
          </a:p>
          <a:p>
            <a:pPr>
              <a:spcAft>
                <a:spcPts val="800"/>
              </a:spcAft>
              <a:defRPr sz="2400" b="0"/>
            </a:pPr>
            <a:r>
              <a:rPr dirty="0"/>
              <a:t>• Irrigation and resource planners</a:t>
            </a:r>
          </a:p>
          <a:p>
            <a:pPr>
              <a:spcAft>
                <a:spcPts val="800"/>
              </a:spcAft>
              <a:defRPr sz="2400" b="0"/>
            </a:pPr>
            <a:r>
              <a:rPr dirty="0"/>
              <a:t>• Students learning data analysis</a:t>
            </a:r>
          </a:p>
        </p:txBody>
      </p:sp>
    </p:spTree>
    <p:extLst>
      <p:ext uri="{BB962C8B-B14F-4D97-AF65-F5344CB8AC3E}">
        <p14:creationId xmlns:p14="http://schemas.microsoft.com/office/powerpoint/2010/main" val="4807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sz="2600" b="1" dirty="0"/>
              <a:t>Technology Used</a:t>
            </a:r>
          </a:p>
        </p:txBody>
      </p:sp>
      <p:sp>
        <p:nvSpPr>
          <p:cNvPr id="17" name="TextBox 16"/>
          <p:cNvSpPr txBox="1"/>
          <p:nvPr/>
        </p:nvSpPr>
        <p:spPr>
          <a:xfrm>
            <a:off x="665018" y="1172095"/>
            <a:ext cx="7772400" cy="3046988"/>
          </a:xfrm>
          <a:prstGeom prst="rect">
            <a:avLst/>
          </a:prstGeom>
          <a:noFill/>
        </p:spPr>
        <p:txBody>
          <a:bodyPr wrap="square">
            <a:spAutoFit/>
          </a:bodyPr>
          <a:lstStyle/>
          <a:p>
            <a:endParaRPr lang="en-US" sz="2400" b="1" dirty="0"/>
          </a:p>
          <a:p>
            <a:pPr marL="285750" indent="-285750">
              <a:buFont typeface="Arial" panose="020B0604020202020204" pitchFamily="34" charset="0"/>
              <a:buChar char="•"/>
            </a:pPr>
            <a:r>
              <a:rPr lang="en-US" sz="2400" dirty="0"/>
              <a:t>Python</a:t>
            </a:r>
          </a:p>
          <a:p>
            <a:pPr marL="285750" indent="-285750">
              <a:buFont typeface="Arial" panose="020B0604020202020204" pitchFamily="34" charset="0"/>
              <a:buChar char="•"/>
            </a:pPr>
            <a:r>
              <a:rPr lang="en-US" sz="2400" dirty="0" err="1"/>
              <a:t>Jupyter</a:t>
            </a:r>
            <a:r>
              <a:rPr lang="en-US" sz="2400" dirty="0"/>
              <a:t> Notebook</a:t>
            </a:r>
          </a:p>
          <a:p>
            <a:pPr marL="285750" indent="-285750">
              <a:buFont typeface="Arial" panose="020B0604020202020204" pitchFamily="34" charset="0"/>
              <a:buChar char="•"/>
            </a:pPr>
            <a:r>
              <a:rPr lang="en-US" sz="2400" dirty="0"/>
              <a:t>Pandas</a:t>
            </a:r>
          </a:p>
          <a:p>
            <a:pPr marL="285750" indent="-285750">
              <a:buFont typeface="Arial" panose="020B0604020202020204" pitchFamily="34" charset="0"/>
              <a:buChar char="•"/>
            </a:pPr>
            <a:r>
              <a:rPr lang="en-US" sz="2400" dirty="0" err="1"/>
              <a:t>Matplotlib</a:t>
            </a:r>
            <a:endParaRPr lang="en-US" sz="2400" dirty="0"/>
          </a:p>
          <a:p>
            <a:pPr marL="285750" indent="-285750">
              <a:buFont typeface="Arial" panose="020B0604020202020204" pitchFamily="34" charset="0"/>
              <a:buChar char="•"/>
            </a:pPr>
            <a:r>
              <a:rPr lang="en-US" sz="2400" dirty="0" err="1"/>
              <a:t>Seaborn</a:t>
            </a:r>
            <a:endParaRPr lang="en-US" sz="2400" dirty="0"/>
          </a:p>
          <a:p>
            <a:pPr marL="285750" indent="-285750">
              <a:buFont typeface="Arial" panose="020B0604020202020204" pitchFamily="34" charset="0"/>
              <a:buChar char="•"/>
            </a:pPr>
            <a:r>
              <a:rPr lang="en-US" sz="2400" dirty="0"/>
              <a:t>CSV dataset</a:t>
            </a:r>
          </a:p>
          <a:p>
            <a:pPr>
              <a:spcAft>
                <a:spcPts val="800"/>
              </a:spcAft>
              <a:defRPr sz="2500" b="0"/>
            </a:pPr>
            <a:endParaRPr sz="2400" dirty="0"/>
          </a:p>
        </p:txBody>
      </p:sp>
    </p:spTree>
    <p:extLst>
      <p:ext uri="{BB962C8B-B14F-4D97-AF65-F5344CB8AC3E}">
        <p14:creationId xmlns:p14="http://schemas.microsoft.com/office/powerpoint/2010/main" val="134190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sz="2100" b="1"/>
              <a:t>RESULTS - DATA CHECKING</a:t>
            </a:r>
            <a:endParaRPr lang="en-IN" dirty="0"/>
          </a:p>
        </p:txBody>
      </p:sp>
      <p:sp>
        <p:nvSpPr>
          <p:cNvPr id="31" name="TextBox 30"/>
          <p:cNvSpPr txBox="1"/>
          <p:nvPr/>
        </p:nvSpPr>
        <p:spPr>
          <a:xfrm>
            <a:off x="738822" y="1109749"/>
            <a:ext cx="4160520" cy="4983480"/>
          </a:xfrm>
          <a:prstGeom prst="rect">
            <a:avLst/>
          </a:prstGeom>
          <a:noFill/>
        </p:spPr>
        <p:txBody>
          <a:bodyPr wrap="square">
            <a:spAutoFit/>
          </a:bodyPr>
          <a:lstStyle/>
          <a:p>
            <a:pPr>
              <a:spcAft>
                <a:spcPts val="800"/>
              </a:spcAft>
              <a:defRPr sz="1500"/>
            </a:pPr>
            <a:r>
              <a:rPr dirty="0"/>
              <a:t>Dataset loaded successfully</a:t>
            </a:r>
          </a:p>
          <a:p>
            <a:pPr>
              <a:spcAft>
                <a:spcPts val="800"/>
              </a:spcAft>
              <a:defRPr sz="1500"/>
            </a:pPr>
            <a:endParaRPr dirty="0"/>
          </a:p>
          <a:p>
            <a:pPr>
              <a:spcAft>
                <a:spcPts val="800"/>
              </a:spcAft>
              <a:defRPr sz="1500"/>
            </a:pPr>
            <a:r>
              <a:rPr dirty="0"/>
              <a:t>Rows: 4,000</a:t>
            </a:r>
          </a:p>
          <a:p>
            <a:pPr>
              <a:spcAft>
                <a:spcPts val="800"/>
              </a:spcAft>
              <a:defRPr sz="1500"/>
            </a:pPr>
            <a:r>
              <a:rPr dirty="0"/>
              <a:t>Columns: 28</a:t>
            </a:r>
          </a:p>
          <a:p>
            <a:pPr>
              <a:spcAft>
                <a:spcPts val="800"/>
              </a:spcAft>
              <a:defRPr sz="1500"/>
            </a:pPr>
            <a:endParaRPr dirty="0"/>
          </a:p>
          <a:p>
            <a:pPr>
              <a:spcAft>
                <a:spcPts val="800"/>
              </a:spcAft>
              <a:defRPr sz="1500"/>
            </a:pPr>
            <a:r>
              <a:rPr dirty="0"/>
              <a:t>Top 5 rows were viewed using </a:t>
            </a:r>
            <a:r>
              <a:rPr dirty="0" err="1"/>
              <a:t>data.head</a:t>
            </a:r>
            <a:r>
              <a:rPr dirty="0"/>
              <a:t>().</a:t>
            </a:r>
          </a:p>
          <a:p>
            <a:pPr>
              <a:spcAft>
                <a:spcPts val="800"/>
              </a:spcAft>
              <a:defRPr sz="1500"/>
            </a:pPr>
            <a:endParaRPr dirty="0"/>
          </a:p>
          <a:p>
            <a:pPr>
              <a:spcAft>
                <a:spcPts val="800"/>
              </a:spcAft>
              <a:defRPr sz="1500"/>
            </a:pPr>
            <a:r>
              <a:rPr dirty="0"/>
              <a:t>Missing values found:</a:t>
            </a:r>
          </a:p>
          <a:p>
            <a:pPr>
              <a:spcAft>
                <a:spcPts val="800"/>
              </a:spcAft>
              <a:defRPr sz="1500"/>
            </a:pPr>
            <a:r>
              <a:rPr dirty="0"/>
              <a:t>• Rainfall: 48</a:t>
            </a:r>
          </a:p>
          <a:p>
            <a:pPr>
              <a:spcAft>
                <a:spcPts val="800"/>
              </a:spcAft>
              <a:defRPr sz="1500"/>
            </a:pPr>
            <a:r>
              <a:rPr dirty="0"/>
              <a:t>• Soil moisture: 40</a:t>
            </a:r>
          </a:p>
          <a:p>
            <a:pPr>
              <a:spcAft>
                <a:spcPts val="800"/>
              </a:spcAft>
              <a:defRPr sz="1500"/>
            </a:pPr>
            <a:r>
              <a:rPr dirty="0"/>
              <a:t>• Yield: 32</a:t>
            </a:r>
          </a:p>
          <a:p>
            <a:pPr>
              <a:spcAft>
                <a:spcPts val="800"/>
              </a:spcAft>
              <a:defRPr sz="1500"/>
            </a:pPr>
            <a:endParaRPr dirty="0"/>
          </a:p>
          <a:p>
            <a:pPr>
              <a:spcAft>
                <a:spcPts val="800"/>
              </a:spcAft>
              <a:defRPr sz="1500"/>
            </a:pPr>
            <a:r>
              <a:rPr dirty="0"/>
              <a:t>Duplicate rows: 0</a:t>
            </a:r>
          </a:p>
          <a:p>
            <a:pPr>
              <a:spcAft>
                <a:spcPts val="800"/>
              </a:spcAft>
              <a:defRPr sz="1500"/>
            </a:pPr>
            <a:endParaRPr dirty="0"/>
          </a:p>
          <a:p>
            <a:pPr>
              <a:spcAft>
                <a:spcPts val="800"/>
              </a:spcAft>
              <a:defRPr sz="1500"/>
            </a:pPr>
            <a:r>
              <a:rPr dirty="0"/>
              <a:t>For the main analysis, rows missing the main values were removed. Final analysis rows: 3,968</a:t>
            </a:r>
          </a:p>
        </p:txBody>
      </p:sp>
      <p:pic>
        <p:nvPicPr>
          <p:cNvPr id="32" name="Picture 31" descr="slide6_dataset_preview.png"/>
          <p:cNvPicPr>
            <a:picLocks noChangeAspect="1"/>
          </p:cNvPicPr>
          <p:nvPr/>
        </p:nvPicPr>
        <p:blipFill>
          <a:blip r:embed="rId3"/>
          <a:stretch>
            <a:fillRect/>
          </a:stretch>
        </p:blipFill>
        <p:spPr>
          <a:xfrm>
            <a:off x="5074920" y="1417320"/>
            <a:ext cx="6492240" cy="3847253"/>
          </a:xfrm>
          <a:prstGeom prst="rect">
            <a:avLst/>
          </a:prstGeom>
        </p:spPr>
      </p:pic>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sz="2100" b="1"/>
              <a:t>RESULTS - SEASONAL COMPARISON</a:t>
            </a:r>
            <a:endParaRPr lang="en-IN" dirty="0"/>
          </a:p>
        </p:txBody>
      </p:sp>
      <p:sp>
        <p:nvSpPr>
          <p:cNvPr id="31" name="TextBox 30"/>
          <p:cNvSpPr txBox="1"/>
          <p:nvPr/>
        </p:nvSpPr>
        <p:spPr>
          <a:xfrm>
            <a:off x="685800" y="1325880"/>
            <a:ext cx="4160520" cy="4983480"/>
          </a:xfrm>
          <a:prstGeom prst="rect">
            <a:avLst/>
          </a:prstGeom>
          <a:noFill/>
        </p:spPr>
        <p:txBody>
          <a:bodyPr wrap="square">
            <a:spAutoFit/>
          </a:bodyPr>
          <a:lstStyle/>
          <a:p>
            <a:pPr>
              <a:spcAft>
                <a:spcPts val="800"/>
              </a:spcAft>
              <a:defRPr sz="1500"/>
            </a:pPr>
            <a:r>
              <a:t>I grouped the data by Season and calculated averages.</a:t>
            </a:r>
          </a:p>
          <a:p>
            <a:pPr>
              <a:spcAft>
                <a:spcPts val="800"/>
              </a:spcAft>
              <a:defRPr sz="1500"/>
            </a:pPr>
            <a:endParaRPr/>
          </a:p>
          <a:p>
            <a:pPr>
              <a:spcAft>
                <a:spcPts val="800"/>
              </a:spcAft>
              <a:defRPr sz="1500"/>
            </a:pPr>
            <a:r>
              <a:t>Kharif:</a:t>
            </a:r>
          </a:p>
          <a:p>
            <a:pPr>
              <a:spcAft>
                <a:spcPts val="800"/>
              </a:spcAft>
              <a:defRPr sz="1500"/>
            </a:pPr>
            <a:r>
              <a:t>• Highest average yield</a:t>
            </a:r>
          </a:p>
          <a:p>
            <a:pPr>
              <a:spcAft>
                <a:spcPts val="800"/>
              </a:spcAft>
              <a:defRPr sz="1500"/>
            </a:pPr>
            <a:r>
              <a:t>• Highest average profit</a:t>
            </a:r>
          </a:p>
          <a:p>
            <a:pPr>
              <a:spcAft>
                <a:spcPts val="800"/>
              </a:spcAft>
              <a:defRPr sz="1500"/>
            </a:pPr>
            <a:endParaRPr/>
          </a:p>
          <a:p>
            <a:pPr>
              <a:spcAft>
                <a:spcPts val="800"/>
              </a:spcAft>
              <a:defRPr sz="1500"/>
            </a:pPr>
            <a:r>
              <a:t>Rabi:</a:t>
            </a:r>
          </a:p>
          <a:p>
            <a:pPr>
              <a:spcAft>
                <a:spcPts val="800"/>
              </a:spcAft>
              <a:defRPr sz="1500"/>
            </a:pPr>
            <a:r>
              <a:t>• Middle result for most measures</a:t>
            </a:r>
          </a:p>
          <a:p>
            <a:pPr>
              <a:spcAft>
                <a:spcPts val="800"/>
              </a:spcAft>
              <a:defRPr sz="1500"/>
            </a:pPr>
            <a:endParaRPr/>
          </a:p>
          <a:p>
            <a:pPr>
              <a:spcAft>
                <a:spcPts val="800"/>
              </a:spcAft>
              <a:defRPr sz="1500"/>
            </a:pPr>
            <a:r>
              <a:t>Zaid:</a:t>
            </a:r>
          </a:p>
          <a:p>
            <a:pPr>
              <a:spcAft>
                <a:spcPts val="800"/>
              </a:spcAft>
              <a:defRPr sz="1500"/>
            </a:pPr>
            <a:r>
              <a:t>• Lowest average yield and profit</a:t>
            </a:r>
          </a:p>
          <a:p>
            <a:pPr>
              <a:spcAft>
                <a:spcPts val="800"/>
              </a:spcAft>
              <a:defRPr sz="1500"/>
            </a:pPr>
            <a:r>
              <a:t>• Lowest disease/pest risk</a:t>
            </a:r>
          </a:p>
          <a:p>
            <a:pPr>
              <a:spcAft>
                <a:spcPts val="800"/>
              </a:spcAft>
              <a:defRPr sz="1500"/>
            </a:pPr>
            <a:endParaRPr/>
          </a:p>
          <a:p>
            <a:pPr>
              <a:spcAft>
                <a:spcPts val="800"/>
              </a:spcAft>
              <a:defRPr sz="1500"/>
            </a:pPr>
            <a:r>
              <a:t>This is a descriptive comparison of the given data.</a:t>
            </a:r>
          </a:p>
        </p:txBody>
      </p:sp>
      <p:pic>
        <p:nvPicPr>
          <p:cNvPr id="32" name="Picture 31" descr="season.png"/>
          <p:cNvPicPr>
            <a:picLocks noChangeAspect="1"/>
          </p:cNvPicPr>
          <p:nvPr/>
        </p:nvPicPr>
        <p:blipFill>
          <a:blip r:embed="rId3"/>
          <a:stretch>
            <a:fillRect/>
          </a:stretch>
        </p:blipFill>
        <p:spPr>
          <a:xfrm>
            <a:off x="5166360" y="1325880"/>
            <a:ext cx="6400800" cy="3706990"/>
          </a:xfrm>
          <a:prstGeom prst="rect">
            <a:avLst/>
          </a:prstGeom>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sz="2100" b="1"/>
              <a:t>RESULTS - OUTLIERS AND BASIC ANALYSIS</a:t>
            </a:r>
            <a:endParaRPr lang="en-IN" dirty="0"/>
          </a:p>
        </p:txBody>
      </p:sp>
      <p:sp>
        <p:nvSpPr>
          <p:cNvPr id="31" name="TextBox 30"/>
          <p:cNvSpPr txBox="1"/>
          <p:nvPr/>
        </p:nvSpPr>
        <p:spPr>
          <a:xfrm>
            <a:off x="685800" y="1325880"/>
            <a:ext cx="4160520" cy="4983480"/>
          </a:xfrm>
          <a:prstGeom prst="rect">
            <a:avLst/>
          </a:prstGeom>
          <a:noFill/>
        </p:spPr>
        <p:txBody>
          <a:bodyPr wrap="square">
            <a:spAutoFit/>
          </a:bodyPr>
          <a:lstStyle/>
          <a:p>
            <a:pPr>
              <a:spcAft>
                <a:spcPts val="800"/>
              </a:spcAft>
              <a:defRPr sz="1500"/>
            </a:pPr>
            <a:r>
              <a:t>The boxplots help investigate unusual values in yield and profit.</a:t>
            </a:r>
          </a:p>
          <a:p>
            <a:pPr>
              <a:spcAft>
                <a:spcPts val="800"/>
              </a:spcAft>
              <a:defRPr sz="1500"/>
            </a:pPr>
            <a:endParaRPr/>
          </a:p>
          <a:p>
            <a:pPr>
              <a:spcAft>
                <a:spcPts val="800"/>
              </a:spcAft>
              <a:defRPr sz="1500"/>
            </a:pPr>
            <a:r>
              <a:t>I also used:</a:t>
            </a:r>
          </a:p>
          <a:p>
            <a:pPr>
              <a:spcAft>
                <a:spcPts val="800"/>
              </a:spcAft>
              <a:defRPr sz="1500"/>
            </a:pPr>
            <a:r>
              <a:t>• Histogram for one-variable analysis</a:t>
            </a:r>
          </a:p>
          <a:p>
            <a:pPr>
              <a:spcAft>
                <a:spcPts val="800"/>
              </a:spcAft>
              <a:defRPr sz="1500"/>
            </a:pPr>
            <a:r>
              <a:t>• Scatter plot for rainfall and yield</a:t>
            </a:r>
          </a:p>
          <a:p>
            <a:pPr>
              <a:spcAft>
                <a:spcPts val="800"/>
              </a:spcAft>
              <a:defRPr sz="1500"/>
            </a:pPr>
            <a:r>
              <a:t>• Bar charts for crop counts and seasonal profit</a:t>
            </a:r>
          </a:p>
          <a:p>
            <a:pPr>
              <a:spcAft>
                <a:spcPts val="800"/>
              </a:spcAft>
              <a:defRPr sz="1500"/>
            </a:pPr>
            <a:endParaRPr/>
          </a:p>
          <a:p>
            <a:pPr>
              <a:spcAft>
                <a:spcPts val="800"/>
              </a:spcAft>
              <a:defRPr sz="1500"/>
            </a:pPr>
            <a:r>
              <a:t>Some values are far from the middle, especially profit. They were investigated but not changed because they may be real farm results.</a:t>
            </a:r>
          </a:p>
        </p:txBody>
      </p:sp>
      <p:pic>
        <p:nvPicPr>
          <p:cNvPr id="32" name="Picture 31" descr="outliers.png"/>
          <p:cNvPicPr>
            <a:picLocks noChangeAspect="1"/>
          </p:cNvPicPr>
          <p:nvPr/>
        </p:nvPicPr>
        <p:blipFill>
          <a:blip r:embed="rId3"/>
          <a:stretch>
            <a:fillRect/>
          </a:stretch>
        </p:blipFill>
        <p:spPr>
          <a:xfrm>
            <a:off x="5166360" y="1325880"/>
            <a:ext cx="6400800" cy="3617843"/>
          </a:xfrm>
          <a:prstGeom prst="rect">
            <a:avLst/>
          </a:prstGeom>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fontScale="90000"/>
          </a:bodyPr>
          <a:lstStyle/>
          <a:p>
            <a:r>
              <a:rPr sz="2100" b="1"/>
              <a:t>RESULTS - MULTIVARIATE AND CORRELATION</a:t>
            </a:r>
            <a:endParaRPr lang="en-IN" dirty="0"/>
          </a:p>
        </p:txBody>
      </p:sp>
      <p:sp>
        <p:nvSpPr>
          <p:cNvPr id="31" name="TextBox 30"/>
          <p:cNvSpPr txBox="1"/>
          <p:nvPr/>
        </p:nvSpPr>
        <p:spPr>
          <a:xfrm>
            <a:off x="685800" y="1325880"/>
            <a:ext cx="4160520" cy="4983480"/>
          </a:xfrm>
          <a:prstGeom prst="rect">
            <a:avLst/>
          </a:prstGeom>
          <a:noFill/>
        </p:spPr>
        <p:txBody>
          <a:bodyPr wrap="square">
            <a:spAutoFit/>
          </a:bodyPr>
          <a:lstStyle/>
          <a:p>
            <a:pPr>
              <a:spcAft>
                <a:spcPts val="800"/>
              </a:spcAft>
              <a:defRPr sz="1500"/>
            </a:pPr>
            <a:r>
              <a:t>The left chart compares crop and season together.</a:t>
            </a:r>
          </a:p>
          <a:p>
            <a:pPr>
              <a:spcAft>
                <a:spcPts val="800"/>
              </a:spcAft>
              <a:defRPr sz="1500"/>
            </a:pPr>
            <a:endParaRPr/>
          </a:p>
          <a:p>
            <a:pPr>
              <a:spcAft>
                <a:spcPts val="800"/>
              </a:spcAft>
              <a:defRPr sz="1500"/>
            </a:pPr>
            <a:r>
              <a:t>The right chart shows correlations between rainfall, temperature, soil moisture, fertilizer, seed quality, yield and profit.</a:t>
            </a:r>
          </a:p>
          <a:p>
            <a:pPr>
              <a:spcAft>
                <a:spcPts val="800"/>
              </a:spcAft>
              <a:defRPr sz="1500"/>
            </a:pPr>
            <a:endParaRPr/>
          </a:p>
          <a:p>
            <a:pPr>
              <a:spcAft>
                <a:spcPts val="800"/>
              </a:spcAft>
              <a:defRPr sz="1500"/>
            </a:pPr>
            <a:r>
              <a:t>This helps compare more than two variables. Correlation shows a relationship, but it does not prove cause and effect.</a:t>
            </a:r>
          </a:p>
        </p:txBody>
      </p:sp>
      <p:pic>
        <p:nvPicPr>
          <p:cNvPr id="32" name="Picture 31" descr="multivariate.png"/>
          <p:cNvPicPr>
            <a:picLocks noChangeAspect="1"/>
          </p:cNvPicPr>
          <p:nvPr/>
        </p:nvPicPr>
        <p:blipFill>
          <a:blip r:embed="rId3"/>
          <a:stretch>
            <a:fillRect/>
          </a:stretch>
        </p:blipFill>
        <p:spPr>
          <a:xfrm>
            <a:off x="5166360" y="1325880"/>
            <a:ext cx="6400800" cy="3639107"/>
          </a:xfrm>
          <a:prstGeom prst="rect">
            <a:avLst/>
          </a:prstGeom>
        </p:spPr>
      </p:pic>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sz="2100" b="1"/>
              <a:t>RESULTS - STUDENT ANALYSES</a:t>
            </a:r>
            <a:endParaRPr lang="en-IN" dirty="0"/>
          </a:p>
        </p:txBody>
      </p:sp>
      <p:sp>
        <p:nvSpPr>
          <p:cNvPr id="31" name="TextBox 30"/>
          <p:cNvSpPr txBox="1"/>
          <p:nvPr/>
        </p:nvSpPr>
        <p:spPr>
          <a:xfrm>
            <a:off x="685800" y="1325880"/>
            <a:ext cx="4160520" cy="4983480"/>
          </a:xfrm>
          <a:prstGeom prst="rect">
            <a:avLst/>
          </a:prstGeom>
          <a:noFill/>
        </p:spPr>
        <p:txBody>
          <a:bodyPr wrap="square">
            <a:spAutoFit/>
          </a:bodyPr>
          <a:lstStyle/>
          <a:p>
            <a:pPr>
              <a:spcAft>
                <a:spcPts val="800"/>
              </a:spcAft>
              <a:defRPr sz="1500"/>
            </a:pPr>
            <a:r>
              <a:t>Student analysis 1: percentage of profitable farms by season.</a:t>
            </a:r>
          </a:p>
          <a:p>
            <a:pPr>
              <a:spcAft>
                <a:spcPts val="800"/>
              </a:spcAft>
              <a:defRPr sz="1500"/>
            </a:pPr>
            <a:endParaRPr/>
          </a:p>
          <a:p>
            <a:pPr>
              <a:spcAft>
                <a:spcPts val="800"/>
              </a:spcAft>
              <a:defRPr sz="1500"/>
            </a:pPr>
            <a:r>
              <a:t>Student analysis 2: average yield and profit for crop-season combinations.</a:t>
            </a:r>
          </a:p>
          <a:p>
            <a:pPr>
              <a:spcAft>
                <a:spcPts val="800"/>
              </a:spcAft>
              <a:defRPr sz="1500"/>
            </a:pPr>
            <a:endParaRPr/>
          </a:p>
          <a:p>
            <a:pPr>
              <a:spcAft>
                <a:spcPts val="800"/>
              </a:spcAft>
              <a:defRPr sz="1500"/>
            </a:pPr>
            <a:r>
              <a:t>Student analysis 3: irrigation method, water use and water efficiency.</a:t>
            </a:r>
          </a:p>
          <a:p>
            <a:pPr>
              <a:spcAft>
                <a:spcPts val="800"/>
              </a:spcAft>
              <a:defRPr sz="1500"/>
            </a:pPr>
            <a:endParaRPr/>
          </a:p>
          <a:p>
            <a:pPr>
              <a:spcAft>
                <a:spcPts val="800"/>
              </a:spcAft>
              <a:defRPr sz="1500"/>
            </a:pPr>
            <a:r>
              <a:t>Main observation:</a:t>
            </a:r>
          </a:p>
          <a:p>
            <a:pPr>
              <a:spcAft>
                <a:spcPts val="800"/>
              </a:spcAft>
              <a:defRPr sz="1500"/>
            </a:pPr>
            <a:r>
              <a:t>• Kharif has the highest profitable-farm percentage.</a:t>
            </a:r>
          </a:p>
          <a:p>
            <a:pPr>
              <a:spcAft>
                <a:spcPts val="800"/>
              </a:spcAft>
              <a:defRPr sz="1500"/>
            </a:pPr>
            <a:r>
              <a:t>• Rainfed has the highest average water efficiency in this dataset.</a:t>
            </a:r>
          </a:p>
          <a:p>
            <a:pPr>
              <a:spcAft>
                <a:spcPts val="800"/>
              </a:spcAft>
              <a:defRPr sz="1500"/>
            </a:pPr>
            <a:r>
              <a:t>• Crop and season combinations give different results.</a:t>
            </a:r>
          </a:p>
        </p:txBody>
      </p:sp>
      <p:pic>
        <p:nvPicPr>
          <p:cNvPr id="32" name="Picture 31" descr="student.png"/>
          <p:cNvPicPr>
            <a:picLocks noChangeAspect="1"/>
          </p:cNvPicPr>
          <p:nvPr/>
        </p:nvPicPr>
        <p:blipFill>
          <a:blip r:embed="rId3"/>
          <a:stretch>
            <a:fillRect/>
          </a:stretch>
        </p:blipFill>
        <p:spPr>
          <a:xfrm>
            <a:off x="5166360" y="1325880"/>
            <a:ext cx="6400800" cy="3630161"/>
          </a:xfrm>
          <a:prstGeom prst="rect">
            <a:avLst/>
          </a:prstGeom>
        </p:spPr>
      </p:pic>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89"/>
            <a:ext cx="4735798" cy="830997"/>
          </a:xfrm>
        </p:spPr>
        <p:txBody>
          <a:bodyPr>
            <a:normAutofit/>
          </a:bodyPr>
          <a:lstStyle/>
          <a:p>
            <a:r>
              <a:rPr sz="2600" b="1"/>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1030778" y="1828800"/>
            <a:ext cx="8961120" cy="3200400"/>
          </a:xfrm>
          <a:prstGeom prst="rect">
            <a:avLst/>
          </a:prstGeom>
          <a:noFill/>
        </p:spPr>
        <p:txBody>
          <a:bodyPr wrap="square">
            <a:spAutoFit/>
          </a:bodyPr>
          <a:lstStyle/>
          <a:p>
            <a:pPr>
              <a:spcAft>
                <a:spcPts val="800"/>
              </a:spcAft>
              <a:defRPr sz="2400" b="0"/>
            </a:pPr>
            <a:r>
              <a:rPr dirty="0"/>
              <a:t>• Add data from more years</a:t>
            </a:r>
          </a:p>
          <a:p>
            <a:pPr>
              <a:spcAft>
                <a:spcPts val="800"/>
              </a:spcAft>
              <a:defRPr sz="2400" b="0"/>
            </a:pPr>
            <a:r>
              <a:rPr dirty="0"/>
              <a:t>• Compare more districts</a:t>
            </a:r>
          </a:p>
          <a:p>
            <a:pPr>
              <a:spcAft>
                <a:spcPts val="800"/>
              </a:spcAft>
              <a:defRPr sz="2400" b="0"/>
            </a:pPr>
            <a:r>
              <a:rPr dirty="0"/>
              <a:t>• Study weather changes in more detail</a:t>
            </a:r>
          </a:p>
          <a:p>
            <a:pPr>
              <a:spcAft>
                <a:spcPts val="800"/>
              </a:spcAft>
              <a:defRPr sz="2400" b="0"/>
            </a:pPr>
            <a:r>
              <a:rPr dirty="0"/>
              <a:t>• Use live market prices</a:t>
            </a:r>
          </a:p>
          <a:p>
            <a:pPr>
              <a:spcAft>
                <a:spcPts val="800"/>
              </a:spcAft>
              <a:defRPr sz="2400" b="0"/>
            </a:pPr>
            <a:r>
              <a:rPr dirty="0"/>
              <a:t>• Build a simple dashboard in the future</a:t>
            </a:r>
          </a:p>
        </p:txBody>
      </p:sp>
    </p:spTree>
    <p:extLst>
      <p:ext uri="{BB962C8B-B14F-4D97-AF65-F5344CB8AC3E}">
        <p14:creationId xmlns:p14="http://schemas.microsoft.com/office/powerpoint/2010/main" val="77682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sz="2600" b="1"/>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897774" y="2468880"/>
            <a:ext cx="8686800" cy="830997"/>
          </a:xfrm>
          <a:prstGeom prst="rect">
            <a:avLst/>
          </a:prstGeom>
          <a:noFill/>
        </p:spPr>
        <p:txBody>
          <a:bodyPr wrap="square">
            <a:spAutoFit/>
          </a:bodyPr>
          <a:lstStyle/>
          <a:p>
            <a:pPr>
              <a:spcAft>
                <a:spcPts val="800"/>
              </a:spcAft>
              <a:defRPr sz="2400" b="0"/>
            </a:pPr>
            <a:r>
              <a:rPr lang="en-US" dirty="0"/>
              <a:t>https://github.com/daniyalio/Seasonal-Agriculture-Performance-Analysis.git</a:t>
            </a:r>
            <a:endParaRPr dirty="0"/>
          </a:p>
        </p:txBody>
      </p:sp>
    </p:spTree>
    <p:extLst>
      <p:ext uri="{BB962C8B-B14F-4D97-AF65-F5344CB8AC3E}">
        <p14:creationId xmlns:p14="http://schemas.microsoft.com/office/powerpoint/2010/main" val="3863610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a:bodyPr>
          <a:lstStyle/>
          <a:p>
            <a:r>
              <a:rPr sz="2200" b="1"/>
              <a:t>VOIS Course completion certificate -
Course name: Data Visualization</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333" y="1341672"/>
            <a:ext cx="7387391" cy="5226768"/>
          </a:xfrm>
          <a:prstGeom prst="rect">
            <a:avLst/>
          </a:prstGeom>
        </p:spPr>
      </p:pic>
    </p:spTree>
    <p:extLst>
      <p:ext uri="{BB962C8B-B14F-4D97-AF65-F5344CB8AC3E}">
        <p14:creationId xmlns:p14="http://schemas.microsoft.com/office/powerpoint/2010/main" val="396280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490713" y="1911234"/>
            <a:ext cx="11845898" cy="2960023"/>
          </a:xfrm>
          <a:prstGeom prst="rect">
            <a:avLst/>
          </a:prstGeom>
        </p:spPr>
        <p:txBody>
          <a:bodyPr anchor="ctr">
            <a:normAutofit/>
          </a:bodyPr>
          <a:lstStyle/>
          <a:p>
            <a:pPr algn="ctr"/>
            <a:r>
              <a:rPr sz="7200" b="1" dirty="0"/>
              <a:t>Thank you</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www.w3.org/XML/1998/namespace"/>
    <ds:schemaRef ds:uri="http://schemas.microsoft.com/office/infopath/2007/PartnerControls"/>
    <ds:schemaRef ds:uri="http://purl.org/dc/terms/"/>
    <ds:schemaRef ds:uri="http://purl.org/dc/elements/1.1/"/>
    <ds:schemaRef ds:uri="71af3243-3dd4-4a8d-8c0d-dd76da1f02a5"/>
    <ds:schemaRef ds:uri="http://purl.org/dc/dcmitype/"/>
    <ds:schemaRef ds:uri="http://schemas.microsoft.com/office/2006/documentManagement/types"/>
    <ds:schemaRef ds:uri="http://schemas.openxmlformats.org/package/2006/metadata/core-properties"/>
    <ds:schemaRef ds:uri="16c05727-aa75-4e4a-9b5f-8a80a1165891"/>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582</TotalTime>
  <Words>503</Words>
  <Application>Microsoft Office PowerPoint</Application>
  <PresentationFormat>Custom</PresentationFormat>
  <Paragraphs>88</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Seasonal Agriculture Performance Analysis</vt:lpstr>
      <vt:lpstr>PROBLEM STATEMENT</vt:lpstr>
      <vt:lpstr>Project Description  This project analyzes seasonal agriculture performance using data from different farms, crops and regions. The dataset includes information about seasons, rainfall, temperature, soil conditions, irrigation methods, crop yield, production, cost, revenue, profit, water usage and disease or pest risk. The main purpose of this project is to compare agricultural performance across the Kharif, Rabi and Zaid seasons. The analysis studies differences in yield, profit, rainfall, water usage, crop performance, irrigation methods and disease risk. Python, Pandas, Matplotlib and Seaborn are used to load, clean and analyze the dataset. Different tables and charts are created to understand seasonal patterns and relationships between agricultural factors. The project also includes missing-value checking, duplicate checking, descriptive analysis, outlier investigation, univariate analysis, bivariate analysis, multivariate analysis, correlation analysis and comparisons between crops, states, seasons and irrigation methods. The final results provide useful observations and recommendations for better seasonal crop planning, irrigation decisions and agricultural resource management.</vt:lpstr>
      <vt:lpstr>WHO ARE THE END USERS?</vt:lpstr>
      <vt:lpstr>Technology Used</vt:lpstr>
      <vt:lpstr>RESULTS - DATA CHECKING</vt:lpstr>
      <vt:lpstr>RESULTS - SEASONAL COMPARISON</vt:lpstr>
      <vt:lpstr>RESULTS - OUTLIERS AND BASIC ANALYSIS</vt:lpstr>
      <vt:lpstr>RESULTS - MULTIVARIATE AND CORRELATION</vt:lpstr>
      <vt:lpstr>RESULTS - STUDENT ANALYSES</vt:lpstr>
      <vt:lpstr>Future scope</vt:lpstr>
      <vt:lpstr>GitHub Link</vt:lpstr>
      <vt:lpstr>VOIS Course completion certificate -
Course name: Data Visualization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Daniyal Islam</cp:lastModifiedBy>
  <cp:revision>101</cp:revision>
  <dcterms:created xsi:type="dcterms:W3CDTF">2021-07-11T13:13:15Z</dcterms:created>
  <dcterms:modified xsi:type="dcterms:W3CDTF">2026-09-08T11:45:10Z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